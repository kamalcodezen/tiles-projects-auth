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5.xml" ContentType="application/vnd.openxmlformats-officedocument.presentationml.comments+xml"/>
  <Override PartName="/ppt/comments/comment14.xml" ContentType="application/vnd.openxmlformats-officedocument.presentationml.comment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gif" ContentType="image/gif"/>
  <Override PartName="/ppt/media/image11.gif" ContentType="image/gif"/>
  <Override PartName="/ppt/media/image12.gif" ContentType="image/gif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jpeg" ContentType="image/jpeg"/>
  <Override PartName="/ppt/media/image22.png" ContentType="image/png"/>
  <Override PartName="/ppt/media/image20.png" ContentType="image/png"/>
  <Override PartName="/ppt/media/image21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</p:sldIdLst>
  <p:sldSz cx="12192000" cy="6858000"/>
  <p:notesSz cx="7772400" cy="10058400"/>
</p:presentation>
</file>

<file path=ppt/commentAuthors.xml><?xml version="1.0" encoding="utf-8"?>
<p:cmAuthorLst xmlns:p="http://schemas.openxmlformats.org/presentationml/2006/main">
  <p:cmAuthor id="0" name="Moriam Akter Swarna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presProps" Target="presProps.xml"/><Relationship Id="rId46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4-05-08T10:39:03.409000000" idx="1">
    <p:pos x="6118" y="0"/>
    <p:text>Eta direct React er website thekeo dekhano jete pare.</p:text>
  </p:cm>
</p:cmLst>
</file>

<file path=ppt/comments/comment4.xml><?xml version="1.0" encoding="utf-8"?>
<p:cmLst xmlns:p="http://schemas.openxmlformats.org/presentationml/2006/main">
  <p:cm authorId="0" dt="2024-05-08T11:38:03.182000000" idx="2">
    <p:pos x="6118" y="0"/>
    <p:text>Open https://nextjs.org/ and show the banner portion where it is said that - The React Framework for the Web. Explain about it briefly</p:text>
  </p:cm>
</p:cmLst>
</file>

<file path=ppt/comments/comment5.xml><?xml version="1.0" encoding="utf-8"?>
<p:cmLst xmlns:p="http://schemas.openxmlformats.org/presentationml/2006/main">
  <p:cm authorId="0" dt="2024-05-09T07:05:51.846000000" idx="3">
    <p:pos x="6118" y="0"/>
    <p:text>Explain each point</p:text>
  </p:cm>
</p:cmLst>
</file>

<file path=ppt/comments/comment14.xml><?xml version="1.0" encoding="utf-8"?>
<p:cmLst xmlns:p="http://schemas.openxmlformats.org/presentationml/2006/main">
  <p:cm authorId="0" dt="2024-05-09T07:18:53.058000000" idx="4">
    <p:pos x="6118" y="0"/>
    <p:text>kuno akta website open kore render hocche ta dekhaben</p:text>
  </p:cm>
</p:cmLst>
</file>

<file path=ppt/comments/comment16.xml><?xml version="1.0" encoding="utf-8"?>
<p:cmLst xmlns:p="http://schemas.openxmlformats.org/presentationml/2006/main">
  <p:cm authorId="0" dt="2024-05-09T07:55:08.134000000" idx="5">
    <p:pos x="6118" y="0"/>
    <p:text>Show view page source of a react project and a next js project. Explain client CSR and Pre-rendering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E402CD-BBD2-4A89-ABDC-E26FF94A3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D4C27E1-C58A-40DE-A2E8-DFAAF0D664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6441AC-0F7B-40AC-B80D-5A8B737AD0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A14DED0-AEFA-4D52-9A34-2FA7B6361E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B221A9-B6B1-4842-9E08-09FD2D3BDB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0BBE788-DB70-453E-A0F7-BB52E26458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7EE9D11-0468-43AA-A2E3-EDCBBC1DCD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63658C6-5B55-4872-B5DE-7D3C367455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940F0EE-3BB1-4DC0-8AF0-DC24837C0C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0BA9352-39F1-4A34-B5CB-632F2399F7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49AE192-ED5C-41D1-AB0C-3189629119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36AD048-B273-4761-BA51-7DE292F2A6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034F70B-4489-4732-A715-72C4F8022F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A8CB350-F659-4151-8E2A-04D35E982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0D701C7F-07A5-461A-93BE-82431ACBE0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67D3F7C-F143-47BD-A21D-CB97784D47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B9ED8AC1-61E6-41F2-8D62-9279A7E69C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BE28FB-04AD-4918-840C-C9475397F5FF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46B2CA-1363-4A6C-B4B9-F25708820C99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66A2F8-C80E-4671-B5CA-041A42C5155A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C35317-3B33-4EAF-A103-E49CB362A543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981B94-80AA-4758-9D76-0FFC0DA35ABE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F9D358-22DC-4670-A2DC-D97157E310CB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BA5104-D684-4BF3-9780-D26A47100693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037C04-2365-42A8-8C30-050C275226D6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4B41A1-B2E3-4A8E-A63C-9A5BA8E0E5DC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E470DF-D12B-4D57-B5E3-9C1AC8BF7083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740A48-D7B7-4D42-A767-2A8FACCD7F93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D14FE1-04D5-412A-8D20-49DE5E614D7E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2725BD-E3DE-4359-9328-AE1E545E4088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8B3CCA-6E06-4865-AB38-A874B3C3BD4A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47C062-5577-40BE-A9EF-DF0CFB7C9602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BE44B3-69CF-49F3-A206-C0CC6D1F2D35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4DDDF6-1FC6-44E6-9573-1BE8713C669A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9.png"/><Relationship Id="rId3" Type="http://schemas.openxmlformats.org/officeDocument/2006/relationships/image" Target="../media/image10.gif"/><Relationship Id="rId4" Type="http://schemas.openxmlformats.org/officeDocument/2006/relationships/slideLayout" Target="../slideLayouts/slideLayout11.xml"/><Relationship Id="rId5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11.gif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12.gif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9.jpe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1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comments" Target="../comments/commen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9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<Relationship Id="rId4" Type="http://schemas.openxmlformats.org/officeDocument/2006/relationships/comments" Target="../comments/commen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9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3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388600" y="1739520"/>
            <a:ext cx="7231320" cy="168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uFillTx/>
                <a:latin typeface="Space Grotesk"/>
                <a:ea typeface="Space Grotesk"/>
              </a:rPr>
              <a:t>Next JS</a:t>
            </a: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2" name="Google Shape;85;p1" descr=""/>
          <p:cNvPicPr/>
          <p:nvPr/>
        </p:nvPicPr>
        <p:blipFill>
          <a:blip r:embed="rId2"/>
          <a:stretch/>
        </p:blipFill>
        <p:spPr>
          <a:xfrm>
            <a:off x="3871440" y="978120"/>
            <a:ext cx="393732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86;p1" descr=""/>
          <p:cNvPicPr/>
          <p:nvPr/>
        </p:nvPicPr>
        <p:blipFill>
          <a:blip r:embed="rId3"/>
          <a:stretch/>
        </p:blipFill>
        <p:spPr>
          <a:xfrm>
            <a:off x="10414080" y="412200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87;p1" descr=""/>
          <p:cNvPicPr/>
          <p:nvPr/>
        </p:nvPicPr>
        <p:blipFill>
          <a:blip r:embed="rId4"/>
          <a:stretch/>
        </p:blipFill>
        <p:spPr>
          <a:xfrm>
            <a:off x="-375480" y="725400"/>
            <a:ext cx="1685160" cy="168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88;p1" descr=""/>
          <p:cNvPicPr/>
          <p:nvPr/>
        </p:nvPicPr>
        <p:blipFill>
          <a:blip r:embed="rId5"/>
          <a:stretch/>
        </p:blipFill>
        <p:spPr>
          <a:xfrm>
            <a:off x="5086080" y="3830040"/>
            <a:ext cx="201852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89;p1"/>
          <p:cNvSpPr/>
          <p:nvPr/>
        </p:nvSpPr>
        <p:spPr>
          <a:xfrm>
            <a:off x="4491720" y="3074040"/>
            <a:ext cx="2922840" cy="89640"/>
          </a:xfrm>
          <a:prstGeom prst="rect">
            <a:avLst/>
          </a:prstGeom>
          <a:solidFill>
            <a:schemeClr val="lt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90;p1"/>
          <p:cNvSpPr/>
          <p:nvPr/>
        </p:nvSpPr>
        <p:spPr>
          <a:xfrm>
            <a:off x="9708480" y="112068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91;p1"/>
          <p:cNvSpPr/>
          <p:nvPr/>
        </p:nvSpPr>
        <p:spPr>
          <a:xfrm>
            <a:off x="10043280" y="112068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92;p1"/>
          <p:cNvSpPr/>
          <p:nvPr/>
        </p:nvSpPr>
        <p:spPr>
          <a:xfrm>
            <a:off x="610560" y="492768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Google Shape;93;p1"/>
          <p:cNvSpPr/>
          <p:nvPr/>
        </p:nvSpPr>
        <p:spPr>
          <a:xfrm>
            <a:off x="610560" y="511632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8;p2" descr=""/>
          <p:cNvPicPr/>
          <p:nvPr/>
        </p:nvPicPr>
        <p:blipFill>
          <a:blip r:embed="rId2"/>
          <a:stretch/>
        </p:blipFill>
        <p:spPr>
          <a:xfrm>
            <a:off x="9524880" y="6188400"/>
            <a:ext cx="2264040" cy="43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99;p2" descr=""/>
          <p:cNvPicPr/>
          <p:nvPr/>
        </p:nvPicPr>
        <p:blipFill>
          <a:blip r:embed="rId3"/>
          <a:stretch/>
        </p:blipFill>
        <p:spPr>
          <a:xfrm>
            <a:off x="10308960" y="504720"/>
            <a:ext cx="2419200" cy="195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00;p2"/>
          <p:cNvSpPr/>
          <p:nvPr/>
        </p:nvSpPr>
        <p:spPr>
          <a:xfrm>
            <a:off x="388080" y="2026080"/>
            <a:ext cx="9642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uFillTx/>
                <a:latin typeface="Merriweather"/>
                <a:ea typeface="Merriweather"/>
              </a:rPr>
              <a:t>What Is Next  JS?</a:t>
            </a: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4" name="Google Shape;101;p2" descr=""/>
          <p:cNvPicPr/>
          <p:nvPr/>
        </p:nvPicPr>
        <p:blipFill>
          <a:blip r:embed="rId4"/>
          <a:stretch/>
        </p:blipFill>
        <p:spPr>
          <a:xfrm>
            <a:off x="-705600" y="5446440"/>
            <a:ext cx="1500120" cy="150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102;p2"/>
          <p:cNvSpPr/>
          <p:nvPr/>
        </p:nvSpPr>
        <p:spPr>
          <a:xfrm>
            <a:off x="6826680" y="145800"/>
            <a:ext cx="3026160" cy="6892920"/>
          </a:xfrm>
          <a:custGeom>
            <a:avLst/>
            <a:gdLst>
              <a:gd name="textAreaLeft" fmla="*/ 0 w 3026160"/>
              <a:gd name="textAreaRight" fmla="*/ 3027600 w 3026160"/>
              <a:gd name="textAreaTop" fmla="*/ 0 h 6892920"/>
              <a:gd name="textAreaBottom" fmla="*/ 6894360 h 6892920"/>
            </a:gdLst>
            <a:ahLst/>
            <a:rect l="textAreaLeft" t="textAreaTop" r="textAreaRight" b="textAreaBottom"/>
            <a:pathLst>
              <a:path w="121110" h="275779">
                <a:moveTo>
                  <a:pt x="14592" y="6566"/>
                </a:moveTo>
                <a:lnTo>
                  <a:pt x="121110" y="126946"/>
                </a:lnTo>
                <a:lnTo>
                  <a:pt x="0" y="275779"/>
                </a:lnTo>
                <a:lnTo>
                  <a:pt x="121110" y="127675"/>
                </a:lnTo>
                <a:lnTo>
                  <a:pt x="8026" y="0"/>
                </a:lnTo>
              </a:path>
            </a:pathLst>
          </a:custGeom>
          <a:noFill/>
          <a:ln w="76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Google Shape;103;p2"/>
          <p:cNvSpPr/>
          <p:nvPr/>
        </p:nvSpPr>
        <p:spPr>
          <a:xfrm>
            <a:off x="-705600" y="-356400"/>
            <a:ext cx="2077920" cy="1854000"/>
          </a:xfrm>
          <a:prstGeom prst="decagon">
            <a:avLst>
              <a:gd name="vf" fmla="val 105146"/>
            </a:avLst>
          </a:prstGeom>
          <a:noFill/>
          <a:ln w="762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Google Shape;104;p2"/>
          <p:cNvSpPr/>
          <p:nvPr/>
        </p:nvSpPr>
        <p:spPr>
          <a:xfrm>
            <a:off x="497520" y="58536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Google Shape;105;p2"/>
          <p:cNvSpPr/>
          <p:nvPr/>
        </p:nvSpPr>
        <p:spPr>
          <a:xfrm>
            <a:off x="5932800" y="409392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Google Shape;106;p2"/>
          <p:cNvSpPr/>
          <p:nvPr/>
        </p:nvSpPr>
        <p:spPr>
          <a:xfrm>
            <a:off x="5932800" y="462276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Google Shape;107;p2"/>
          <p:cNvSpPr/>
          <p:nvPr/>
        </p:nvSpPr>
        <p:spPr>
          <a:xfrm>
            <a:off x="497520" y="858240"/>
            <a:ext cx="1166040" cy="1106640"/>
          </a:xfrm>
          <a:prstGeom prst="diamond">
            <a:avLst/>
          </a:pr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1" name="Google Shape;108;p2" descr=""/>
          <p:cNvPicPr/>
          <p:nvPr/>
        </p:nvPicPr>
        <p:blipFill>
          <a:blip r:embed="rId5"/>
          <a:stretch/>
        </p:blipFill>
        <p:spPr>
          <a:xfrm rot="18737400">
            <a:off x="4451760" y="1645200"/>
            <a:ext cx="118656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09;p2"/>
          <p:cNvSpPr/>
          <p:nvPr/>
        </p:nvSpPr>
        <p:spPr>
          <a:xfrm>
            <a:off x="497520" y="3467160"/>
            <a:ext cx="7896240" cy="173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uFillTx/>
                <a:latin typeface="Merriweather"/>
                <a:ea typeface="Merriweather"/>
              </a:rPr>
              <a:t>Next.js as a toolbox for building websites. It uses React.js, a popular library like a set of building blocks, to create interactive web pages.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14;p3" descr="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19;p4" descr=""/>
          <p:cNvPicPr/>
          <p:nvPr/>
        </p:nvPicPr>
        <p:blipFill>
          <a:blip r:embed="rId1"/>
          <a:stretch/>
        </p:blipFill>
        <p:spPr>
          <a:xfrm>
            <a:off x="-568440" y="0"/>
            <a:ext cx="1735920" cy="140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120;p4" descr=""/>
          <p:cNvPicPr/>
          <p:nvPr/>
        </p:nvPicPr>
        <p:blipFill>
          <a:blip r:embed="rId2"/>
          <a:stretch/>
        </p:blipFill>
        <p:spPr>
          <a:xfrm>
            <a:off x="90720" y="628056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2129760"/>
            <a:ext cx="10514160" cy="19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Why Starting with React Not 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Next JS??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7" name="Google Shape;122;p4" descr=""/>
          <p:cNvPicPr/>
          <p:nvPr/>
        </p:nvPicPr>
        <p:blipFill>
          <a:blip r:embed="rId3"/>
          <a:stretch/>
        </p:blipFill>
        <p:spPr>
          <a:xfrm>
            <a:off x="4063320" y="205560"/>
            <a:ext cx="2952720" cy="243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23;p4"/>
          <p:cNvSpPr/>
          <p:nvPr/>
        </p:nvSpPr>
        <p:spPr>
          <a:xfrm>
            <a:off x="10599840" y="5373000"/>
            <a:ext cx="1518840" cy="1416600"/>
          </a:xfrm>
          <a:custGeom>
            <a:avLst/>
            <a:gdLst>
              <a:gd name="textAreaLeft" fmla="*/ 0 w 1518840"/>
              <a:gd name="textAreaRight" fmla="*/ 1520280 w 1518840"/>
              <a:gd name="textAreaTop" fmla="*/ 0 h 1416600"/>
              <a:gd name="textAreaBottom" fmla="*/ 1418040 h 1416600"/>
            </a:gdLst>
            <a:ahLst/>
            <a:rect l="textAreaLeft" t="textAreaTop" r="textAreaRight" b="textAreaBottom"/>
            <a:pathLst>
              <a:path w="60813" h="56720">
                <a:moveTo>
                  <a:pt x="12279" y="0"/>
                </a:moveTo>
                <a:lnTo>
                  <a:pt x="60813" y="56720"/>
                </a:lnTo>
                <a:lnTo>
                  <a:pt x="0" y="23974"/>
                </a:lnTo>
                <a:close/>
              </a:path>
            </a:pathLst>
          </a:cu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124;p4"/>
          <p:cNvSpPr/>
          <p:nvPr/>
        </p:nvSpPr>
        <p:spPr>
          <a:xfrm>
            <a:off x="10825560" y="5329440"/>
            <a:ext cx="1220400" cy="1416600"/>
          </a:xfrm>
          <a:custGeom>
            <a:avLst/>
            <a:gdLst>
              <a:gd name="textAreaLeft" fmla="*/ 0 w 1220400"/>
              <a:gd name="textAreaRight" fmla="*/ 1221840 w 1220400"/>
              <a:gd name="textAreaTop" fmla="*/ 0 h 1416600"/>
              <a:gd name="textAreaBottom" fmla="*/ 1418040 h 1416600"/>
            </a:gdLst>
            <a:ahLst/>
            <a:rect l="textAreaLeft" t="textAreaTop" r="textAreaRight" b="textAreaBottom"/>
            <a:pathLst>
              <a:path w="60813" h="56720">
                <a:moveTo>
                  <a:pt x="12279" y="0"/>
                </a:moveTo>
                <a:lnTo>
                  <a:pt x="60813" y="56720"/>
                </a:lnTo>
                <a:lnTo>
                  <a:pt x="0" y="23974"/>
                </a:lnTo>
                <a:close/>
              </a:path>
            </a:pathLst>
          </a:cu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Google Shape;125;p4"/>
          <p:cNvSpPr/>
          <p:nvPr/>
        </p:nvSpPr>
        <p:spPr>
          <a:xfrm>
            <a:off x="11115720" y="5201640"/>
            <a:ext cx="1003320" cy="1587960"/>
          </a:xfrm>
          <a:custGeom>
            <a:avLst/>
            <a:gdLst>
              <a:gd name="textAreaLeft" fmla="*/ 0 w 1003320"/>
              <a:gd name="textAreaRight" fmla="*/ 1004760 w 1003320"/>
              <a:gd name="textAreaTop" fmla="*/ 0 h 1587960"/>
              <a:gd name="textAreaBottom" fmla="*/ 1589400 h 1587960"/>
            </a:gdLst>
            <a:ahLst/>
            <a:rect l="textAreaLeft" t="textAreaTop" r="textAreaRight" b="textAreaBottom"/>
            <a:pathLst>
              <a:path w="60813" h="56720">
                <a:moveTo>
                  <a:pt x="12279" y="0"/>
                </a:moveTo>
                <a:lnTo>
                  <a:pt x="60813" y="56720"/>
                </a:lnTo>
                <a:lnTo>
                  <a:pt x="0" y="23974"/>
                </a:lnTo>
                <a:close/>
              </a:path>
            </a:pathLst>
          </a:cu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126;p4"/>
          <p:cNvSpPr/>
          <p:nvPr/>
        </p:nvSpPr>
        <p:spPr>
          <a:xfrm>
            <a:off x="11414160" y="5061600"/>
            <a:ext cx="704520" cy="1728000"/>
          </a:xfrm>
          <a:custGeom>
            <a:avLst/>
            <a:gdLst>
              <a:gd name="textAreaLeft" fmla="*/ 0 w 704520"/>
              <a:gd name="textAreaRight" fmla="*/ 705960 w 704520"/>
              <a:gd name="textAreaTop" fmla="*/ 0 h 1728000"/>
              <a:gd name="textAreaBottom" fmla="*/ 1729440 h 1728000"/>
            </a:gdLst>
            <a:ahLst/>
            <a:rect l="textAreaLeft" t="textAreaTop" r="textAreaRight" b="textAreaBottom"/>
            <a:pathLst>
              <a:path w="60813" h="56720">
                <a:moveTo>
                  <a:pt x="12279" y="0"/>
                </a:moveTo>
                <a:lnTo>
                  <a:pt x="60813" y="56720"/>
                </a:lnTo>
                <a:lnTo>
                  <a:pt x="0" y="23974"/>
                </a:lnTo>
                <a:close/>
              </a:path>
            </a:pathLst>
          </a:cu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127;p4"/>
          <p:cNvSpPr/>
          <p:nvPr/>
        </p:nvSpPr>
        <p:spPr>
          <a:xfrm>
            <a:off x="11595960" y="5061600"/>
            <a:ext cx="523080" cy="1728000"/>
          </a:xfrm>
          <a:custGeom>
            <a:avLst/>
            <a:gdLst>
              <a:gd name="textAreaLeft" fmla="*/ 0 w 523080"/>
              <a:gd name="textAreaRight" fmla="*/ 524520 w 523080"/>
              <a:gd name="textAreaTop" fmla="*/ 0 h 1728000"/>
              <a:gd name="textAreaBottom" fmla="*/ 1729440 h 1728000"/>
            </a:gdLst>
            <a:ahLst/>
            <a:rect l="textAreaLeft" t="textAreaTop" r="textAreaRight" b="textAreaBottom"/>
            <a:pathLst>
              <a:path w="60813" h="56720">
                <a:moveTo>
                  <a:pt x="12279" y="0"/>
                </a:moveTo>
                <a:lnTo>
                  <a:pt x="60813" y="56720"/>
                </a:lnTo>
                <a:lnTo>
                  <a:pt x="0" y="23974"/>
                </a:lnTo>
                <a:close/>
              </a:path>
            </a:pathLst>
          </a:custGeom>
          <a:solidFill>
            <a:srgbClr val="ca7dff">
              <a:alpha val="24000"/>
            </a:srgbClr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32;g2709b86c7d5_0_78" descr=""/>
          <p:cNvPicPr/>
          <p:nvPr/>
        </p:nvPicPr>
        <p:blipFill>
          <a:blip r:embed="rId1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33;g2709b86c7d5_0_78" descr=""/>
          <p:cNvPicPr/>
          <p:nvPr/>
        </p:nvPicPr>
        <p:blipFill>
          <a:blip r:embed="rId2"/>
          <a:stretch/>
        </p:blipFill>
        <p:spPr>
          <a:xfrm flipH="1">
            <a:off x="-959760" y="-20052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134;g2709b86c7d5_0_78"/>
          <p:cNvSpPr/>
          <p:nvPr/>
        </p:nvSpPr>
        <p:spPr>
          <a:xfrm>
            <a:off x="2248560" y="1047960"/>
            <a:ext cx="9756720" cy="11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Key Features of Next JS??</a:t>
            </a:r>
            <a:endParaRPr b="0" lang="en-US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Google Shape;135;g2709b86c7d5_0_78"/>
          <p:cNvSpPr/>
          <p:nvPr/>
        </p:nvSpPr>
        <p:spPr>
          <a:xfrm>
            <a:off x="1154160" y="3633120"/>
            <a:ext cx="3518640" cy="75456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Next Level Data Fetching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Google Shape;136;g2709b86c7d5_0_78"/>
          <p:cNvSpPr/>
          <p:nvPr/>
        </p:nvSpPr>
        <p:spPr>
          <a:xfrm>
            <a:off x="1154160" y="2622960"/>
            <a:ext cx="3518640" cy="79452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Built in Optimization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Google Shape;137;g2709b86c7d5_0_78"/>
          <p:cNvSpPr/>
          <p:nvPr/>
        </p:nvSpPr>
        <p:spPr>
          <a:xfrm>
            <a:off x="6917760" y="2622960"/>
            <a:ext cx="3518640" cy="79452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Pre-Rendering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(SSG + SSR)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Google Shape;138;g2709b86c7d5_0_78"/>
          <p:cNvSpPr/>
          <p:nvPr/>
        </p:nvSpPr>
        <p:spPr>
          <a:xfrm>
            <a:off x="1154160" y="4642920"/>
            <a:ext cx="3518640" cy="75456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React Server Component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Google Shape;139;g2709b86c7d5_0_78"/>
          <p:cNvSpPr/>
          <p:nvPr/>
        </p:nvSpPr>
        <p:spPr>
          <a:xfrm>
            <a:off x="6917760" y="3633120"/>
            <a:ext cx="3518640" cy="75456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Powerful Routing &amp; Layouts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Google Shape;140;g2709b86c7d5_0_78"/>
          <p:cNvSpPr/>
          <p:nvPr/>
        </p:nvSpPr>
        <p:spPr>
          <a:xfrm>
            <a:off x="6917760" y="4642920"/>
            <a:ext cx="3518640" cy="754560"/>
          </a:xfrm>
          <a:prstGeom prst="rect">
            <a:avLst/>
          </a:prstGeom>
          <a:solidFill>
            <a:srgbClr val="af83d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API Routes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22" name="Google Shape;141;g2709b86c7d5_0_78" descr=""/>
          <p:cNvPicPr/>
          <p:nvPr/>
        </p:nvPicPr>
        <p:blipFill>
          <a:blip r:embed="rId3"/>
          <a:stretch/>
        </p:blipFill>
        <p:spPr>
          <a:xfrm>
            <a:off x="4826520" y="2367720"/>
            <a:ext cx="1937160" cy="348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46;g2dada4151bf_0_9" descr=""/>
          <p:cNvPicPr/>
          <p:nvPr/>
        </p:nvPicPr>
        <p:blipFill>
          <a:blip r:embed="rId1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147;g2dada4151bf_0_9" descr=""/>
          <p:cNvPicPr/>
          <p:nvPr/>
        </p:nvPicPr>
        <p:blipFill>
          <a:blip r:embed="rId2"/>
          <a:stretch/>
        </p:blipFill>
        <p:spPr>
          <a:xfrm flipH="1">
            <a:off x="-959760" y="-20052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48;g2dada4151bf_0_9"/>
          <p:cNvSpPr/>
          <p:nvPr/>
        </p:nvSpPr>
        <p:spPr>
          <a:xfrm>
            <a:off x="802080" y="2671200"/>
            <a:ext cx="5808960" cy="20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Why Next JS over </a:t>
            </a:r>
            <a:endParaRPr b="0" lang="en-US" sz="4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React??</a:t>
            </a:r>
            <a:endParaRPr b="0" lang="en-US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6" name="Google Shape;149;g2dada4151bf_0_9" descr=""/>
          <p:cNvPicPr/>
          <p:nvPr/>
        </p:nvPicPr>
        <p:blipFill>
          <a:blip r:embed="rId3"/>
          <a:stretch/>
        </p:blipFill>
        <p:spPr>
          <a:xfrm>
            <a:off x="7146360" y="2429280"/>
            <a:ext cx="3962880" cy="31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Google Shape;150;g2dada4151bf_0_9"/>
          <p:cNvSpPr/>
          <p:nvPr/>
        </p:nvSpPr>
        <p:spPr>
          <a:xfrm>
            <a:off x="748440" y="4273200"/>
            <a:ext cx="2414160" cy="95400"/>
          </a:xfrm>
          <a:prstGeom prst="rect">
            <a:avLst/>
          </a:prstGeom>
          <a:solidFill>
            <a:srgbClr val="df037a"/>
          </a:solidFill>
          <a:ln w="9525">
            <a:solidFill>
              <a:srgbClr val="df03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7880" bIns="47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55;g2dada4151bf_0_31" descr=""/>
          <p:cNvPicPr/>
          <p:nvPr/>
        </p:nvPicPr>
        <p:blipFill>
          <a:blip r:embed="rId1"/>
          <a:stretch/>
        </p:blipFill>
        <p:spPr>
          <a:xfrm>
            <a:off x="104760" y="622692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156;g2dada4151bf_0_31" descr=""/>
          <p:cNvPicPr/>
          <p:nvPr/>
        </p:nvPicPr>
        <p:blipFill>
          <a:blip r:embed="rId2"/>
          <a:stretch/>
        </p:blipFill>
        <p:spPr>
          <a:xfrm flipH="1">
            <a:off x="-959760" y="-20052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157;g2dada4151bf_0_31" descr=""/>
          <p:cNvPicPr/>
          <p:nvPr/>
        </p:nvPicPr>
        <p:blipFill>
          <a:blip r:embed="rId3"/>
          <a:stretch/>
        </p:blipFill>
        <p:spPr>
          <a:xfrm>
            <a:off x="2613240" y="0"/>
            <a:ext cx="765900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158;g2dada4151bf_0_31" descr=""/>
          <p:cNvPicPr/>
          <p:nvPr/>
        </p:nvPicPr>
        <p:blipFill>
          <a:blip r:embed="rId4"/>
          <a:stretch/>
        </p:blipFill>
        <p:spPr>
          <a:xfrm>
            <a:off x="2520360" y="4232880"/>
            <a:ext cx="7751880" cy="186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Google Shape;159;g2dada4151bf_0_31"/>
          <p:cNvSpPr/>
          <p:nvPr/>
        </p:nvSpPr>
        <p:spPr>
          <a:xfrm>
            <a:off x="2512080" y="3029040"/>
            <a:ext cx="7752240" cy="1202400"/>
          </a:xfrm>
          <a:prstGeom prst="rect">
            <a:avLst/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3" name="Google Shape;160;g2dada4151bf_0_31" descr=""/>
          <p:cNvPicPr/>
          <p:nvPr/>
        </p:nvPicPr>
        <p:blipFill>
          <a:blip r:embed="rId5"/>
          <a:stretch/>
        </p:blipFill>
        <p:spPr>
          <a:xfrm>
            <a:off x="5879520" y="3196800"/>
            <a:ext cx="1288800" cy="128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6" name="Google Shape;167;g2709b86c7d5_0_140" descr=""/>
          <p:cNvPicPr/>
          <p:nvPr/>
        </p:nvPicPr>
        <p:blipFill>
          <a:blip r:embed="rId1"/>
          <a:stretch/>
        </p:blipFill>
        <p:spPr>
          <a:xfrm>
            <a:off x="0" y="0"/>
            <a:ext cx="12190680" cy="647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72;g2709b86c7d5_0_98" descr=""/>
          <p:cNvPicPr/>
          <p:nvPr/>
        </p:nvPicPr>
        <p:blipFill>
          <a:blip r:embed="rId1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8" name="Google Shape;173;g2709b86c7d5_0_98"/>
          <p:cNvGraphicFramePr/>
          <p:nvPr/>
        </p:nvGraphicFramePr>
        <p:xfrm>
          <a:off x="1062000" y="994320"/>
          <a:ext cx="10286640" cy="395208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45972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Feature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28080">
                      <a:solidFill>
                        <a:srgbClr val="9e9e9e"/>
                      </a:solidFill>
                      <a:prstDash val="solid"/>
                    </a:lnL>
                    <a:lnR w="28080">
                      <a:solidFill>
                        <a:srgbClr val="a86cf8"/>
                      </a:solidFill>
                      <a:prstDash val="solid"/>
                    </a:lnR>
                    <a:lnT w="28080">
                      <a:solidFill>
                        <a:srgbClr val="9e9e9e"/>
                      </a:solidFill>
                      <a:prstDash val="solid"/>
                    </a:lnT>
                    <a:lnB w="28080">
                      <a:solidFill>
                        <a:srgbClr val="9e9e9e"/>
                      </a:solidFill>
                      <a:prstDash val="soli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React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28080">
                      <a:solidFill>
                        <a:srgbClr val="a86cf8"/>
                      </a:solidFill>
                      <a:prstDash val="solid"/>
                    </a:lnL>
                    <a:lnR w="9360">
                      <a:solidFill>
                        <a:srgbClr val="a86cf8"/>
                      </a:solidFill>
                      <a:prstDash val="solid"/>
                    </a:lnR>
                    <a:lnT w="9360">
                      <a:solidFill>
                        <a:srgbClr val="a86cf8"/>
                      </a:solidFill>
                      <a:prstDash val="solid"/>
                    </a:lnT>
                    <a:lnB w="9360">
                      <a:solidFill>
                        <a:srgbClr val="a86cf8"/>
                      </a:solidFill>
                      <a:prstDash val="soli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Next.js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a86cf8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674ea7"/>
                    </a:solidFill>
                  </a:tcPr>
                </a:tc>
              </a:tr>
              <a:tr h="5000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Type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28080">
                      <a:solidFill>
                        <a:srgbClr val="9e9e9e"/>
                      </a:solidFill>
                      <a:prstDash val="solid"/>
                    </a:lnT>
                    <a:lnB w="2808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JavaScript library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a86cf8"/>
                      </a:solidFill>
                      <a:prstDash val="solid"/>
                    </a:lnT>
                    <a:lnB w="9360">
                      <a:solidFill>
                        <a:srgbClr val="a86cf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React framework built on top of React library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2574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Flexibility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Highly flexible and customizable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Less flexible due to opinionated structure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544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Learning Curve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Steeper learning curve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Easier to learn for those familiar with React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544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Features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Requires additional setup for routing, data fetching, SSR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Routing, data fetching, SSR built-in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609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Performance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Can be optimized, but requires effort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Improves performance out of the box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816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SEO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Requires additional work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SEO friendly due to server-side rendering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488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Use Cases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Wide range of web applications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Ideal for modern, performant web applications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9" name="Google Shape;174;g2709b86c7d5_0_98" descr=""/>
          <p:cNvPicPr/>
          <p:nvPr/>
        </p:nvPicPr>
        <p:blipFill>
          <a:blip r:embed="rId2"/>
          <a:stretch/>
        </p:blipFill>
        <p:spPr>
          <a:xfrm>
            <a:off x="-493920" y="6036480"/>
            <a:ext cx="1300320" cy="13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175;g2709b86c7d5_0_98" descr=""/>
          <p:cNvPicPr/>
          <p:nvPr/>
        </p:nvPicPr>
        <p:blipFill>
          <a:blip r:embed="rId3"/>
          <a:stretch/>
        </p:blipFill>
        <p:spPr>
          <a:xfrm>
            <a:off x="10421280" y="236520"/>
            <a:ext cx="1432440" cy="10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80;p6" descr=""/>
          <p:cNvPicPr/>
          <p:nvPr/>
        </p:nvPicPr>
        <p:blipFill>
          <a:blip r:embed="rId1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2" name="Google Shape;181;p6"/>
          <p:cNvCxnSpPr/>
          <p:nvPr/>
        </p:nvCxnSpPr>
        <p:spPr>
          <a:xfrm flipV="1">
            <a:off x="-31320" y="27720"/>
            <a:ext cx="12203280" cy="6805080"/>
          </a:xfrm>
          <a:prstGeom prst="straightConnector1">
            <a:avLst/>
          </a:prstGeom>
          <a:ln w="76200">
            <a:solidFill>
              <a:srgbClr val="a86cf8"/>
            </a:solidFill>
            <a:round/>
          </a:ln>
        </p:spPr>
      </p:cxnSp>
      <p:sp>
        <p:nvSpPr>
          <p:cNvPr id="143" name="Google Shape;182;p6"/>
          <p:cNvSpPr/>
          <p:nvPr/>
        </p:nvSpPr>
        <p:spPr>
          <a:xfrm>
            <a:off x="661680" y="1286640"/>
            <a:ext cx="4503600" cy="1257120"/>
          </a:xfrm>
          <a:prstGeom prst="rect">
            <a:avLst/>
          </a:prstGeom>
          <a:solidFill>
            <a:srgbClr val="8f32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chemeClr val="lt1"/>
                </a:solidFill>
                <a:uFillTx/>
                <a:latin typeface="Merriweather"/>
                <a:ea typeface="Merriweather"/>
              </a:rPr>
              <a:t>Framework </a:t>
            </a:r>
            <a:endParaRPr b="0" lang="en-US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Google Shape;183;p6"/>
          <p:cNvSpPr/>
          <p:nvPr/>
        </p:nvSpPr>
        <p:spPr>
          <a:xfrm>
            <a:off x="6887880" y="4138560"/>
            <a:ext cx="4503600" cy="1257120"/>
          </a:xfrm>
          <a:prstGeom prst="rect">
            <a:avLst/>
          </a:prstGeom>
          <a:solidFill>
            <a:srgbClr val="6928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chemeClr val="lt1"/>
                </a:solidFill>
                <a:uFillTx/>
                <a:latin typeface="Merriweather"/>
                <a:ea typeface="Merriweather"/>
              </a:rPr>
              <a:t>Library</a:t>
            </a:r>
            <a:endParaRPr b="0" lang="en-US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45" name="Google Shape;184;p6"/>
          <p:cNvGrpSpPr/>
          <p:nvPr/>
        </p:nvGrpSpPr>
        <p:grpSpPr>
          <a:xfrm>
            <a:off x="4851000" y="2545200"/>
            <a:ext cx="1913400" cy="1801080"/>
            <a:chOff x="4851000" y="2545200"/>
            <a:chExt cx="1913400" cy="1801080"/>
          </a:xfrm>
        </p:grpSpPr>
        <p:sp>
          <p:nvSpPr>
            <p:cNvPr id="146" name="Google Shape;185;p6"/>
            <p:cNvSpPr/>
            <p:nvPr/>
          </p:nvSpPr>
          <p:spPr>
            <a:xfrm>
              <a:off x="4851000" y="2545200"/>
              <a:ext cx="1913400" cy="180108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7" name="Google Shape;186;p6"/>
            <p:cNvSpPr/>
            <p:nvPr/>
          </p:nvSpPr>
          <p:spPr>
            <a:xfrm>
              <a:off x="5164200" y="2864160"/>
              <a:ext cx="1287000" cy="11631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4600" strike="noStrike" u="none">
                  <a:solidFill>
                    <a:srgbClr val="ffffff"/>
                  </a:solidFill>
                  <a:uFillTx/>
                  <a:latin typeface="Merriweather"/>
                  <a:ea typeface="Merriweather"/>
                </a:rPr>
                <a:t>Vs</a:t>
              </a:r>
              <a:endParaRPr b="0" lang="en-US" sz="46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91;p7" descr=""/>
          <p:cNvPicPr/>
          <p:nvPr/>
        </p:nvPicPr>
        <p:blipFill>
          <a:blip r:embed="rId1"/>
          <a:stretch/>
        </p:blipFill>
        <p:spPr>
          <a:xfrm>
            <a:off x="437400" y="620748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192;p7" descr=""/>
          <p:cNvPicPr/>
          <p:nvPr/>
        </p:nvPicPr>
        <p:blipFill>
          <a:blip r:embed="rId2"/>
          <a:stretch/>
        </p:blipFill>
        <p:spPr>
          <a:xfrm>
            <a:off x="0" y="0"/>
            <a:ext cx="120718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oogle Shape;193;p7" descr=""/>
          <p:cNvPicPr/>
          <p:nvPr/>
        </p:nvPicPr>
        <p:blipFill>
          <a:blip r:embed="rId3"/>
          <a:stretch/>
        </p:blipFill>
        <p:spPr>
          <a:xfrm>
            <a:off x="4347000" y="6305040"/>
            <a:ext cx="2414160" cy="46548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fade thruBlk="true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98;g2dada4151bf_0_44" descr="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oogle Shape;199;g2dada4151bf_0_44" descr=""/>
          <p:cNvPicPr/>
          <p:nvPr/>
        </p:nvPicPr>
        <p:blipFill>
          <a:blip r:embed="rId2"/>
          <a:stretch/>
        </p:blipFill>
        <p:spPr>
          <a:xfrm>
            <a:off x="347040" y="625968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200;g2dada4151bf_0_44" descr=""/>
          <p:cNvPicPr/>
          <p:nvPr/>
        </p:nvPicPr>
        <p:blipFill>
          <a:blip r:embed="rId3"/>
          <a:stretch/>
        </p:blipFill>
        <p:spPr>
          <a:xfrm>
            <a:off x="11162160" y="1296360"/>
            <a:ext cx="131580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201;g2dada4151bf_0_44" descr=""/>
          <p:cNvPicPr/>
          <p:nvPr/>
        </p:nvPicPr>
        <p:blipFill>
          <a:blip r:embed="rId4"/>
          <a:stretch/>
        </p:blipFill>
        <p:spPr>
          <a:xfrm rot="18737400">
            <a:off x="1281600" y="1195920"/>
            <a:ext cx="1186560" cy="9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d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206;g2dada4151bf_0_54" descr=""/>
          <p:cNvPicPr/>
          <p:nvPr/>
        </p:nvPicPr>
        <p:blipFill>
          <a:blip r:embed="rId1"/>
          <a:stretch/>
        </p:blipFill>
        <p:spPr>
          <a:xfrm>
            <a:off x="152280" y="0"/>
            <a:ext cx="10072800" cy="594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oogle Shape;207;g2dada4151bf_0_54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208;g2dada4151bf_0_54" descr=""/>
          <p:cNvPicPr/>
          <p:nvPr/>
        </p:nvPicPr>
        <p:blipFill>
          <a:blip r:embed="rId3"/>
          <a:stretch/>
        </p:blipFill>
        <p:spPr>
          <a:xfrm>
            <a:off x="11162160" y="1296360"/>
            <a:ext cx="1315800" cy="74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209;g2dada4151bf_0_54"/>
          <p:cNvSpPr/>
          <p:nvPr/>
        </p:nvSpPr>
        <p:spPr>
          <a:xfrm>
            <a:off x="8867880" y="736560"/>
            <a:ext cx="678240" cy="425268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Google Shape;210;g2dada4151bf_0_54"/>
          <p:cNvSpPr/>
          <p:nvPr/>
        </p:nvSpPr>
        <p:spPr>
          <a:xfrm>
            <a:off x="9854640" y="2612880"/>
            <a:ext cx="1988280" cy="742680"/>
          </a:xfrm>
          <a:prstGeom prst="rect">
            <a:avLst/>
          </a:prstGeom>
          <a:solidFill>
            <a:srgbClr val="eda3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 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All in One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0" name="Google Shape;211;g2dada4151bf_0_54" descr=""/>
          <p:cNvPicPr/>
          <p:nvPr/>
        </p:nvPicPr>
        <p:blipFill>
          <a:blip r:embed="rId4"/>
          <a:stretch/>
        </p:blipFill>
        <p:spPr>
          <a:xfrm>
            <a:off x="-546120" y="0"/>
            <a:ext cx="1735920" cy="140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16;g2dada4151bf_0_1173"/>
          <p:cNvSpPr/>
          <p:nvPr/>
        </p:nvSpPr>
        <p:spPr>
          <a:xfrm>
            <a:off x="7755480" y="1718280"/>
            <a:ext cx="3200760" cy="3056040"/>
          </a:xfrm>
          <a:prstGeom prst="ellipse">
            <a:avLst/>
          </a:prstGeom>
          <a:solidFill>
            <a:srgbClr val="ca7dff">
              <a:alpha val="2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Google Shape;217;g2dada4151bf_0_1173"/>
          <p:cNvSpPr/>
          <p:nvPr/>
        </p:nvSpPr>
        <p:spPr>
          <a:xfrm>
            <a:off x="779400" y="1786680"/>
            <a:ext cx="7702560" cy="5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a86cf8"/>
                </a:solidFill>
                <a:uFillTx/>
                <a:latin typeface="Space Grotesk"/>
                <a:ea typeface="Space Grotesk"/>
              </a:rPr>
              <a:t>What is Rendering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3" name="Google Shape;218;g2dada4151bf_0_1173" descr=""/>
          <p:cNvPicPr/>
          <p:nvPr/>
        </p:nvPicPr>
        <p:blipFill>
          <a:blip r:embed="rId1"/>
          <a:stretch/>
        </p:blipFill>
        <p:spPr>
          <a:xfrm>
            <a:off x="7941960" y="1786680"/>
            <a:ext cx="3164400" cy="328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Google Shape;219;g2dada4151bf_0_1173" descr=""/>
          <p:cNvPicPr/>
          <p:nvPr/>
        </p:nvPicPr>
        <p:blipFill>
          <a:blip r:embed="rId2"/>
          <a:stretch/>
        </p:blipFill>
        <p:spPr>
          <a:xfrm>
            <a:off x="11162160" y="1296360"/>
            <a:ext cx="131580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Google Shape;220;g2dada4151bf_0_1173" descr=""/>
          <p:cNvPicPr/>
          <p:nvPr/>
        </p:nvPicPr>
        <p:blipFill>
          <a:blip r:embed="rId3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Google Shape;221;g2dada4151bf_0_1173"/>
          <p:cNvSpPr/>
          <p:nvPr/>
        </p:nvSpPr>
        <p:spPr>
          <a:xfrm>
            <a:off x="779400" y="3011400"/>
            <a:ext cx="5918400" cy="17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Process of transforming code into the visual and interactive web pages that users see and interact with on their browsers. 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7" name="Google Shape;222;g2dada4151bf_0_1173" descr=""/>
          <p:cNvPicPr/>
          <p:nvPr/>
        </p:nvPicPr>
        <p:blipFill>
          <a:blip r:embed="rId4"/>
          <a:stretch/>
        </p:blipFill>
        <p:spPr>
          <a:xfrm>
            <a:off x="-374760" y="-175680"/>
            <a:ext cx="1300320" cy="130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227;g2dada4151bf_0_1214" descr=""/>
          <p:cNvPicPr/>
          <p:nvPr/>
        </p:nvPicPr>
        <p:blipFill>
          <a:blip r:embed="rId1"/>
          <a:stretch/>
        </p:blipFill>
        <p:spPr>
          <a:xfrm>
            <a:off x="11162160" y="1296360"/>
            <a:ext cx="131580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oogle Shape;228;g2dada4151bf_0_1214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Google Shape;229;g2dada4151bf_0_1214"/>
          <p:cNvSpPr/>
          <p:nvPr/>
        </p:nvSpPr>
        <p:spPr>
          <a:xfrm>
            <a:off x="388080" y="916920"/>
            <a:ext cx="8850240" cy="24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Here's a breakdown of the key points of Rendering: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6600">
              <a:lnSpc>
                <a:spcPct val="15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Input: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 HTML, CSS, and JavaScript code.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660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Process: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 The browser's rendering engine interprets this code.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660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Output: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 An interactive web page.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1" name="Google Shape;230;g2dada4151bf_0_1214" descr=""/>
          <p:cNvPicPr/>
          <p:nvPr/>
        </p:nvPicPr>
        <p:blipFill>
          <a:blip r:embed="rId3"/>
          <a:stretch/>
        </p:blipFill>
        <p:spPr>
          <a:xfrm>
            <a:off x="388080" y="4180320"/>
            <a:ext cx="1516680" cy="13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Google Shape;231;g2dada4151bf_0_1214"/>
          <p:cNvSpPr/>
          <p:nvPr/>
        </p:nvSpPr>
        <p:spPr>
          <a:xfrm>
            <a:off x="1809000" y="4431600"/>
            <a:ext cx="1315800" cy="86616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3" name="Google Shape;232;g2dada4151bf_0_1214" descr=""/>
          <p:cNvPicPr/>
          <p:nvPr/>
        </p:nvPicPr>
        <p:blipFill>
          <a:blip r:embed="rId4"/>
          <a:stretch/>
        </p:blipFill>
        <p:spPr>
          <a:xfrm>
            <a:off x="3242880" y="4237560"/>
            <a:ext cx="163764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Google Shape;233;g2dada4151bf_0_1214"/>
          <p:cNvSpPr/>
          <p:nvPr/>
        </p:nvSpPr>
        <p:spPr>
          <a:xfrm>
            <a:off x="4678920" y="4431600"/>
            <a:ext cx="1315800" cy="86616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5" name="Google Shape;234;g2dada4151bf_0_1214" descr=""/>
          <p:cNvPicPr/>
          <p:nvPr/>
        </p:nvPicPr>
        <p:blipFill>
          <a:blip r:embed="rId5"/>
          <a:stretch/>
        </p:blipFill>
        <p:spPr>
          <a:xfrm>
            <a:off x="5996160" y="3985560"/>
            <a:ext cx="1516680" cy="14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235;g2dada4151bf_0_1214"/>
          <p:cNvSpPr/>
          <p:nvPr/>
        </p:nvSpPr>
        <p:spPr>
          <a:xfrm>
            <a:off x="7421760" y="4712760"/>
            <a:ext cx="1389600" cy="46548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accent2"/>
          </a:solidFill>
          <a:ln w="9525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Google Shape;236;g2dada4151bf_0_1214"/>
          <p:cNvSpPr/>
          <p:nvPr/>
        </p:nvSpPr>
        <p:spPr>
          <a:xfrm>
            <a:off x="9136080" y="4515480"/>
            <a:ext cx="151668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Output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8" name="Google Shape;237;g2dada4151bf_0_1214" descr=""/>
          <p:cNvPicPr/>
          <p:nvPr/>
        </p:nvPicPr>
        <p:blipFill>
          <a:blip r:embed="rId6"/>
          <a:stretch/>
        </p:blipFill>
        <p:spPr>
          <a:xfrm>
            <a:off x="-858600" y="-204840"/>
            <a:ext cx="1500120" cy="150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242;p5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Google Shape;243;p5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0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Types of Rendering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Google Shape;245;p5"/>
          <p:cNvSpPr/>
          <p:nvPr/>
        </p:nvSpPr>
        <p:spPr>
          <a:xfrm>
            <a:off x="4325760" y="193428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6928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Rendering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3" name="Google Shape;246;p5"/>
          <p:cNvSpPr/>
          <p:nvPr/>
        </p:nvSpPr>
        <p:spPr>
          <a:xfrm>
            <a:off x="6685920" y="313380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f9a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Pre-Rendering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Google Shape;247;p5"/>
          <p:cNvSpPr/>
          <p:nvPr/>
        </p:nvSpPr>
        <p:spPr>
          <a:xfrm>
            <a:off x="1965240" y="313380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f9a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Client Side Rendering(CSR)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85" name="Google Shape;248;p5"/>
          <p:cNvCxnSpPr>
            <a:stCxn id="182" idx="2"/>
            <a:endCxn id="183" idx="0"/>
          </p:cNvCxnSpPr>
          <p:nvPr/>
        </p:nvCxnSpPr>
        <p:spPr>
          <a:xfrm flipH="1" rot="16200000">
            <a:off x="6225120" y="1648080"/>
            <a:ext cx="611280" cy="2360520"/>
          </a:xfrm>
          <a:prstGeom prst="bentConnector3">
            <a:avLst>
              <a:gd name="adj1" fmla="val 50147"/>
            </a:avLst>
          </a:prstGeom>
          <a:ln w="9525">
            <a:solidFill>
              <a:srgbClr val="c2c2c2"/>
            </a:solidFill>
            <a:round/>
          </a:ln>
        </p:spPr>
      </p:cxnSp>
      <p:cxnSp>
        <p:nvCxnSpPr>
          <p:cNvPr id="186" name="Google Shape;249;p5"/>
          <p:cNvCxnSpPr>
            <a:stCxn id="184" idx="0"/>
            <a:endCxn id="182" idx="2"/>
          </p:cNvCxnSpPr>
          <p:nvPr/>
        </p:nvCxnSpPr>
        <p:spPr>
          <a:xfrm flipH="1" flipV="1" rot="5400000">
            <a:off x="3864240" y="1648080"/>
            <a:ext cx="611280" cy="2360880"/>
          </a:xfrm>
          <a:prstGeom prst="bentConnector3">
            <a:avLst>
              <a:gd name="adj1" fmla="val 49734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187" name="Google Shape;250;p5"/>
          <p:cNvSpPr/>
          <p:nvPr/>
        </p:nvSpPr>
        <p:spPr>
          <a:xfrm>
            <a:off x="1229400" y="4408200"/>
            <a:ext cx="3739320" cy="960120"/>
          </a:xfrm>
          <a:prstGeom prst="rect">
            <a:avLst/>
          </a:prstGeom>
          <a:noFill/>
          <a:ln w="9525">
            <a:solidFill>
              <a:srgbClr val="8f32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000000"/>
                </a:solidFill>
                <a:uFillTx/>
                <a:latin typeface="Merriweather"/>
                <a:ea typeface="Merriweather"/>
              </a:rPr>
              <a:t>Web page is rendered by the user's browser instead of the server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88" name="Google Shape;251;p5"/>
          <p:cNvCxnSpPr/>
          <p:nvPr/>
        </p:nvCxnSpPr>
        <p:spPr>
          <a:xfrm>
            <a:off x="2990520" y="3723840"/>
            <a:ext cx="7200" cy="68580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  <p:sp>
        <p:nvSpPr>
          <p:cNvPr id="189" name="Google Shape;252;p5"/>
          <p:cNvSpPr/>
          <p:nvPr/>
        </p:nvSpPr>
        <p:spPr>
          <a:xfrm>
            <a:off x="6072120" y="4426200"/>
            <a:ext cx="3739320" cy="960120"/>
          </a:xfrm>
          <a:prstGeom prst="rect">
            <a:avLst/>
          </a:prstGeom>
          <a:noFill/>
          <a:ln w="9525">
            <a:solidFill>
              <a:srgbClr val="8f32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Process of generating a website's content or parts of it </a:t>
            </a: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before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 a user requests them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90" name="Google Shape;253;p5"/>
          <p:cNvCxnSpPr/>
          <p:nvPr/>
        </p:nvCxnSpPr>
        <p:spPr>
          <a:xfrm>
            <a:off x="7708320" y="3723840"/>
            <a:ext cx="7200" cy="68580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258;g2dada4151bf_0_1261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oogle Shape;259;g2dada4151bf_0_1261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0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Types of Rendering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Google Shape;261;g2dada4151bf_0_1261"/>
          <p:cNvSpPr/>
          <p:nvPr/>
        </p:nvSpPr>
        <p:spPr>
          <a:xfrm>
            <a:off x="4325760" y="193428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6928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Rendering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Google Shape;262;g2dada4151bf_0_1261"/>
          <p:cNvSpPr/>
          <p:nvPr/>
        </p:nvSpPr>
        <p:spPr>
          <a:xfrm>
            <a:off x="6685920" y="313380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f9a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Pre-Rendering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263;g2dada4151bf_0_1261"/>
          <p:cNvSpPr/>
          <p:nvPr/>
        </p:nvSpPr>
        <p:spPr>
          <a:xfrm>
            <a:off x="1965240" y="313380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f9a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Client Side Rendering(CSR)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264;g2dada4151bf_0_1261"/>
          <p:cNvSpPr/>
          <p:nvPr/>
        </p:nvSpPr>
        <p:spPr>
          <a:xfrm>
            <a:off x="5704560" y="5174640"/>
            <a:ext cx="2049480" cy="687960"/>
          </a:xfrm>
          <a:prstGeom prst="roundRect">
            <a:avLst>
              <a:gd name="adj" fmla="val 50000"/>
            </a:avLst>
          </a:prstGeom>
          <a:solidFill>
            <a:srgbClr val="932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Server Side 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Rendering(SSR)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8" name="Google Shape;265;g2dada4151bf_0_1261"/>
          <p:cNvSpPr/>
          <p:nvPr/>
        </p:nvSpPr>
        <p:spPr>
          <a:xfrm>
            <a:off x="7958520" y="5174640"/>
            <a:ext cx="2049480" cy="687960"/>
          </a:xfrm>
          <a:prstGeom prst="roundRect">
            <a:avLst>
              <a:gd name="adj" fmla="val 50000"/>
            </a:avLst>
          </a:prstGeom>
          <a:solidFill>
            <a:srgbClr val="932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Static Site Generation(SSG)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99" name="Google Shape;266;g2dada4151bf_0_1261"/>
          <p:cNvCxnSpPr>
            <a:stCxn id="194" idx="2"/>
            <a:endCxn id="195" idx="0"/>
          </p:cNvCxnSpPr>
          <p:nvPr/>
        </p:nvCxnSpPr>
        <p:spPr>
          <a:xfrm flipH="1" rot="16200000">
            <a:off x="6225120" y="1648080"/>
            <a:ext cx="611280" cy="2360520"/>
          </a:xfrm>
          <a:prstGeom prst="bentConnector3">
            <a:avLst>
              <a:gd name="adj1" fmla="val 50147"/>
            </a:avLst>
          </a:prstGeom>
          <a:ln w="9525">
            <a:solidFill>
              <a:srgbClr val="c2c2c2"/>
            </a:solidFill>
            <a:round/>
          </a:ln>
        </p:spPr>
      </p:cxnSp>
      <p:cxnSp>
        <p:nvCxnSpPr>
          <p:cNvPr id="200" name="Google Shape;267;g2dada4151bf_0_1261"/>
          <p:cNvCxnSpPr>
            <a:stCxn id="196" idx="0"/>
            <a:endCxn id="194" idx="2"/>
          </p:cNvCxnSpPr>
          <p:nvPr/>
        </p:nvCxnSpPr>
        <p:spPr>
          <a:xfrm flipH="1" flipV="1" rot="5400000">
            <a:off x="3864240" y="1648080"/>
            <a:ext cx="611280" cy="2360880"/>
          </a:xfrm>
          <a:prstGeom prst="bentConnector3">
            <a:avLst>
              <a:gd name="adj1" fmla="val 49734"/>
            </a:avLst>
          </a:prstGeom>
          <a:ln w="9525">
            <a:solidFill>
              <a:srgbClr val="c2c2c2"/>
            </a:solidFill>
            <a:round/>
          </a:ln>
        </p:spPr>
      </p:cxnSp>
      <p:cxnSp>
        <p:nvCxnSpPr>
          <p:cNvPr id="201" name="Google Shape;268;g2dada4151bf_0_1261"/>
          <p:cNvCxnSpPr>
            <a:stCxn id="195" idx="2"/>
            <a:endCxn id="198" idx="0"/>
          </p:cNvCxnSpPr>
          <p:nvPr/>
        </p:nvCxnSpPr>
        <p:spPr>
          <a:xfrm flipH="1" rot="16200000">
            <a:off x="7620480" y="3812040"/>
            <a:ext cx="1452600" cy="1272960"/>
          </a:xfrm>
          <a:prstGeom prst="bentConnector3">
            <a:avLst>
              <a:gd name="adj1" fmla="val 50000"/>
            </a:avLst>
          </a:prstGeom>
          <a:ln w="9525">
            <a:solidFill>
              <a:srgbClr val="c2c2c2"/>
            </a:solidFill>
            <a:round/>
          </a:ln>
        </p:spPr>
      </p:cxnSp>
      <p:cxnSp>
        <p:nvCxnSpPr>
          <p:cNvPr id="202" name="Google Shape;269;g2dada4151bf_0_1261"/>
          <p:cNvCxnSpPr>
            <a:stCxn id="197" idx="0"/>
            <a:endCxn id="195" idx="2"/>
          </p:cNvCxnSpPr>
          <p:nvPr/>
        </p:nvCxnSpPr>
        <p:spPr>
          <a:xfrm flipH="1" flipV="1" rot="5400000">
            <a:off x="6493680" y="3957840"/>
            <a:ext cx="1452600" cy="981720"/>
          </a:xfrm>
          <a:prstGeom prst="bentConnector3">
            <a:avLst>
              <a:gd name="adj1" fmla="val 49925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203" name="Google Shape;270;g2dada4151bf_0_1261"/>
          <p:cNvSpPr/>
          <p:nvPr/>
        </p:nvSpPr>
        <p:spPr>
          <a:xfrm>
            <a:off x="8026920" y="3874680"/>
            <a:ext cx="4058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Performance Optimization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1371600" y="1828800"/>
            <a:ext cx="2285280" cy="3354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5" name="Google Shape;258;g2dada4151bf_0_ 1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Google Shape;259;g2dada4151bf_0_ 1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0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Client Side Rendering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772400" y="1828800"/>
            <a:ext cx="2285280" cy="3354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8073000" y="5257800"/>
            <a:ext cx="16426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uFillTx/>
                <a:latin typeface="Arial"/>
              </a:rPr>
              <a:t>Web Server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3"/>
          <a:stretch/>
        </p:blipFill>
        <p:spPr>
          <a:xfrm>
            <a:off x="1143000" y="1828800"/>
            <a:ext cx="1904040" cy="190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4"/>
          <a:stretch/>
        </p:blipFill>
        <p:spPr>
          <a:xfrm>
            <a:off x="2286000" y="3200400"/>
            <a:ext cx="1376280" cy="194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"/>
          <p:cNvSpPr/>
          <p:nvPr/>
        </p:nvSpPr>
        <p:spPr>
          <a:xfrm>
            <a:off x="1446480" y="5257800"/>
            <a:ext cx="221040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uFillTx/>
                <a:latin typeface="Arial"/>
              </a:rPr>
              <a:t>Browser / Client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5"/>
          <a:stretch/>
        </p:blipFill>
        <p:spPr>
          <a:xfrm>
            <a:off x="8001000" y="2743200"/>
            <a:ext cx="1828080" cy="18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" descr=""/>
          <p:cNvPicPr/>
          <p:nvPr/>
        </p:nvPicPr>
        <p:blipFill>
          <a:blip r:embed="rId6"/>
          <a:stretch/>
        </p:blipFill>
        <p:spPr>
          <a:xfrm>
            <a:off x="7772400" y="388620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24965305459592 5.249343832021E-005 E">
                                      <p:cBhvr>
                                        <p:cTn id="6" dur="2000" fill="hold"/>
                                        <p:tgtEl>
                                          <p:spTgt spid="2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24994832728024 0 E">
                                      <p:cBhvr>
                                        <p:cTn id="8" dur="2000" fill="hold"/>
                                        <p:tgtEl>
                                          <p:spTgt spid="2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" dur="2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2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1371600" y="1828800"/>
            <a:ext cx="2285280" cy="3354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6" name="Google Shape;258;g2dada4151bf_0_ 2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Google Shape;259;g2dada4151bf_0_ 2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0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Server Side Rendering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772400" y="1828800"/>
            <a:ext cx="2285280" cy="3354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8073000" y="5257800"/>
            <a:ext cx="16426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uFillTx/>
                <a:latin typeface="Arial"/>
              </a:rPr>
              <a:t>Web Server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3"/>
          <a:stretch/>
        </p:blipFill>
        <p:spPr>
          <a:xfrm>
            <a:off x="7543800" y="1828800"/>
            <a:ext cx="1904040" cy="190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4"/>
          <a:stretch/>
        </p:blipFill>
        <p:spPr>
          <a:xfrm>
            <a:off x="8686800" y="3200400"/>
            <a:ext cx="1376280" cy="194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"/>
          <p:cNvSpPr/>
          <p:nvPr/>
        </p:nvSpPr>
        <p:spPr>
          <a:xfrm>
            <a:off x="1446480" y="5257800"/>
            <a:ext cx="221040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100" strike="noStrike" u="none">
                <a:solidFill>
                  <a:srgbClr val="000000"/>
                </a:solidFill>
                <a:uFillTx/>
                <a:latin typeface="Arial"/>
              </a:rPr>
              <a:t>Browser / Client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5"/>
          <a:stretch/>
        </p:blipFill>
        <p:spPr>
          <a:xfrm>
            <a:off x="8001000" y="2743200"/>
            <a:ext cx="1828080" cy="18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" dur="indefinite" restart="never" nodeType="tmRoot">
          <p:childTnLst>
            <p:seq>
              <p:cTn id="23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7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2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68518653640551 0 L -0.537794355893479 0 E">
                                      <p:cBhvr>
                                        <p:cTn id="40" dur="2000" fill="hold"/>
                                        <p:tgtEl>
                                          <p:spTgt spid="2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nodeType="withEffect" fill="hold" presetClass="path" presetID="35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96242159460845 0 L -0.516135544770196 0 E">
                                      <p:cBhvr>
                                        <p:cTn id="42" dur="2000" fill="hold"/>
                                        <p:tgtEl>
                                          <p:spTgt spid="2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75;g2dada4151bf_0_1340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276;g2dada4151bf_0_1340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Client Side Rendering(CSR)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50252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9" name="Google Shape;279;g2dada4151bf_0_1340" descr=""/>
          <p:cNvPicPr/>
          <p:nvPr/>
        </p:nvPicPr>
        <p:blipFill>
          <a:blip r:embed="rId3"/>
          <a:stretch/>
        </p:blipFill>
        <p:spPr>
          <a:xfrm>
            <a:off x="1068840" y="2407320"/>
            <a:ext cx="9265680" cy="28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Google Shape;280;g2dada4151bf_0_1340"/>
          <p:cNvSpPr/>
          <p:nvPr/>
        </p:nvSpPr>
        <p:spPr>
          <a:xfrm>
            <a:off x="742320" y="722880"/>
            <a:ext cx="94680" cy="609120"/>
          </a:xfrm>
          <a:prstGeom prst="rect">
            <a:avLst/>
          </a:prstGeom>
          <a:solidFill>
            <a:schemeClr val="accent2"/>
          </a:solidFill>
          <a:ln w="9525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85;g2dada4151bf_0_1284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Google Shape;286;g2dada4151bf_0_1284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0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Types of Pre-Rendering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Google Shape;288;g2dada4151bf_0_1284"/>
          <p:cNvSpPr/>
          <p:nvPr/>
        </p:nvSpPr>
        <p:spPr>
          <a:xfrm>
            <a:off x="4082040" y="1756080"/>
            <a:ext cx="2049480" cy="588600"/>
          </a:xfrm>
          <a:prstGeom prst="roundRect">
            <a:avLst>
              <a:gd name="adj" fmla="val 50000"/>
            </a:avLst>
          </a:prstGeom>
          <a:solidFill>
            <a:srgbClr val="f9a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Pre-Rendering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Google Shape;289;g2dada4151bf_0_1284"/>
          <p:cNvSpPr/>
          <p:nvPr/>
        </p:nvSpPr>
        <p:spPr>
          <a:xfrm>
            <a:off x="1661040" y="3248280"/>
            <a:ext cx="2049480" cy="687960"/>
          </a:xfrm>
          <a:prstGeom prst="roundRect">
            <a:avLst>
              <a:gd name="adj" fmla="val 50000"/>
            </a:avLst>
          </a:prstGeom>
          <a:solidFill>
            <a:srgbClr val="932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Server Side 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Rendering(SSR)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6" name="Google Shape;290;g2dada4151bf_0_1284"/>
          <p:cNvSpPr/>
          <p:nvPr/>
        </p:nvSpPr>
        <p:spPr>
          <a:xfrm>
            <a:off x="7160040" y="3319560"/>
            <a:ext cx="2049480" cy="687960"/>
          </a:xfrm>
          <a:prstGeom prst="roundRect">
            <a:avLst>
              <a:gd name="adj" fmla="val 50000"/>
            </a:avLst>
          </a:prstGeom>
          <a:solidFill>
            <a:srgbClr val="932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Merriweather"/>
                <a:ea typeface="Merriweather"/>
              </a:rPr>
              <a:t>Static Site Generation(SSG)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7" name="Google Shape;291;g2dada4151bf_0_1284"/>
          <p:cNvSpPr/>
          <p:nvPr/>
        </p:nvSpPr>
        <p:spPr>
          <a:xfrm>
            <a:off x="6132600" y="2346120"/>
            <a:ext cx="4058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Performance Optimization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38" name="Google Shape;292;g2dada4151bf_0_1284"/>
          <p:cNvCxnSpPr>
            <a:stCxn id="234" idx="2"/>
            <a:endCxn id="236" idx="0"/>
          </p:cNvCxnSpPr>
          <p:nvPr/>
        </p:nvCxnSpPr>
        <p:spPr>
          <a:xfrm flipH="1" rot="16200000">
            <a:off x="6158160" y="1293120"/>
            <a:ext cx="975240" cy="3078360"/>
          </a:xfrm>
          <a:prstGeom prst="bentConnector3">
            <a:avLst>
              <a:gd name="adj1" fmla="val 50073"/>
            </a:avLst>
          </a:prstGeom>
          <a:ln w="9525">
            <a:solidFill>
              <a:srgbClr val="c2c2c2"/>
            </a:solidFill>
            <a:round/>
          </a:ln>
        </p:spPr>
      </p:cxnSp>
      <p:cxnSp>
        <p:nvCxnSpPr>
          <p:cNvPr id="239" name="Google Shape;293;g2dada4151bf_0_1284"/>
          <p:cNvCxnSpPr>
            <a:stCxn id="235" idx="0"/>
            <a:endCxn id="234" idx="2"/>
          </p:cNvCxnSpPr>
          <p:nvPr/>
        </p:nvCxnSpPr>
        <p:spPr>
          <a:xfrm flipH="1" flipV="1" rot="5400000">
            <a:off x="3444120" y="1586160"/>
            <a:ext cx="903960" cy="2421360"/>
          </a:xfrm>
          <a:prstGeom prst="bentConnector3">
            <a:avLst>
              <a:gd name="adj1" fmla="val 49800"/>
            </a:avLst>
          </a:prstGeom>
          <a:ln w="9525">
            <a:solidFill>
              <a:srgbClr val="c2c2c2"/>
            </a:solidFill>
            <a:round/>
          </a:ln>
        </p:spPr>
      </p:cxnSp>
      <p:sp>
        <p:nvSpPr>
          <p:cNvPr id="240" name="Google Shape;294;g2dada4151bf_0_1284"/>
          <p:cNvSpPr/>
          <p:nvPr/>
        </p:nvSpPr>
        <p:spPr>
          <a:xfrm>
            <a:off x="970560" y="4622040"/>
            <a:ext cx="3739320" cy="960120"/>
          </a:xfrm>
          <a:prstGeom prst="rect">
            <a:avLst/>
          </a:prstGeom>
          <a:noFill/>
          <a:ln w="9525">
            <a:solidFill>
              <a:srgbClr val="8f32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web server generates the complete HTML for a page </a:t>
            </a: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each time a user requests it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1" name="Google Shape;295;g2dada4151bf_0_1284"/>
          <p:cNvCxnSpPr/>
          <p:nvPr/>
        </p:nvCxnSpPr>
        <p:spPr>
          <a:xfrm>
            <a:off x="2731680" y="3937320"/>
            <a:ext cx="7560" cy="68580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  <p:sp>
        <p:nvSpPr>
          <p:cNvPr id="242" name="Google Shape;296;g2dada4151bf_0_1284"/>
          <p:cNvSpPr/>
          <p:nvPr/>
        </p:nvSpPr>
        <p:spPr>
          <a:xfrm>
            <a:off x="6583320" y="4710960"/>
            <a:ext cx="3739320" cy="960120"/>
          </a:xfrm>
          <a:prstGeom prst="rect">
            <a:avLst/>
          </a:prstGeom>
          <a:noFill/>
          <a:ln w="9525">
            <a:solidFill>
              <a:srgbClr val="8f32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website's HTML pages are </a:t>
            </a: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pre-built at build time</a:t>
            </a: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, before being deployed to a server.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3" name="Google Shape;297;g2dada4151bf_0_1284"/>
          <p:cNvCxnSpPr/>
          <p:nvPr/>
        </p:nvCxnSpPr>
        <p:spPr>
          <a:xfrm>
            <a:off x="8219160" y="4008600"/>
            <a:ext cx="7560" cy="685800"/>
          </a:xfrm>
          <a:prstGeom prst="straightConnector1">
            <a:avLst/>
          </a:prstGeom>
          <a:ln w="9525">
            <a:solidFill>
              <a:srgbClr val="44546a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302;g2dada4151bf_0_1308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Google Shape;303;g2dada4151bf_0_1308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Server Side Rendering(SSR)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50252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Process: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04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User requests a webpage.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04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Server receives the request and fetches any necessary data (like from a database).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04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Server uses the data and templates to generate the full HTML content of the page.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04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The complete HTML is sent to the user's browser for display.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8" name="Google Shape;306;g2dada4151bf_0_1308" descr=""/>
          <p:cNvPicPr/>
          <p:nvPr/>
        </p:nvPicPr>
        <p:blipFill>
          <a:blip r:embed="rId3"/>
          <a:stretch/>
        </p:blipFill>
        <p:spPr>
          <a:xfrm>
            <a:off x="5552280" y="2411280"/>
            <a:ext cx="6333480" cy="270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07;g2dada4151bf_0_1308"/>
          <p:cNvSpPr/>
          <p:nvPr/>
        </p:nvSpPr>
        <p:spPr>
          <a:xfrm>
            <a:off x="742320" y="722880"/>
            <a:ext cx="94680" cy="609120"/>
          </a:xfrm>
          <a:prstGeom prst="rect">
            <a:avLst/>
          </a:prstGeom>
          <a:solidFill>
            <a:schemeClr val="accent2"/>
          </a:solidFill>
          <a:ln w="9525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312;g2dada4151bf_0_1330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Google Shape;313;g2dada4151bf_0_1330" descr=""/>
          <p:cNvPicPr/>
          <p:nvPr/>
        </p:nvPicPr>
        <p:blipFill>
          <a:blip r:embed="rId2"/>
          <a:stretch/>
        </p:blipFill>
        <p:spPr>
          <a:xfrm>
            <a:off x="9356400" y="609804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Static Site Generation(SSG)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50252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57200" indent="-2286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19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Process: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12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During development, content and templates are used to generate the HTML for each page.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12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These pre-built HTML files are deployed to a web server.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312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Merriweather"/>
              <a:buAutoNum type="arabicPeriod"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When a user requests a page, the server simply delivers the corresponding static HTML file.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4" name="Google Shape;316;g2dada4151bf_0_1330" descr=""/>
          <p:cNvPicPr/>
          <p:nvPr/>
        </p:nvPicPr>
        <p:blipFill>
          <a:blip r:embed="rId3"/>
          <a:stretch/>
        </p:blipFill>
        <p:spPr>
          <a:xfrm>
            <a:off x="5494680" y="2427480"/>
            <a:ext cx="6543720" cy="232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Google Shape;317;g2dada4151bf_0_1330"/>
          <p:cNvSpPr/>
          <p:nvPr/>
        </p:nvSpPr>
        <p:spPr>
          <a:xfrm>
            <a:off x="742320" y="722880"/>
            <a:ext cx="94680" cy="609120"/>
          </a:xfrm>
          <a:prstGeom prst="rect">
            <a:avLst/>
          </a:prstGeom>
          <a:solidFill>
            <a:schemeClr val="accent2"/>
          </a:solidFill>
          <a:ln w="9525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322;g2dada4151bf_0_1391" descr=""/>
          <p:cNvPicPr/>
          <p:nvPr/>
        </p:nvPicPr>
        <p:blipFill>
          <a:blip r:embed="rId1"/>
          <a:stretch/>
        </p:blipFill>
        <p:spPr>
          <a:xfrm>
            <a:off x="9664200" y="0"/>
            <a:ext cx="2922480" cy="227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Google Shape;323;g2dada4151bf_0_139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70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oogle Shape;324;g2dada4151bf_0_1391" descr=""/>
          <p:cNvPicPr/>
          <p:nvPr/>
        </p:nvPicPr>
        <p:blipFill>
          <a:blip r:embed="rId3"/>
          <a:stretch/>
        </p:blipFill>
        <p:spPr>
          <a:xfrm>
            <a:off x="9469800" y="5841000"/>
            <a:ext cx="2414160" cy="4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Merriweather"/>
                <a:ea typeface="Merriweather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330;g2dada4151bf_0_1372"/>
          <p:cNvGraphicFramePr/>
          <p:nvPr/>
        </p:nvGraphicFramePr>
        <p:xfrm>
          <a:off x="500040" y="218880"/>
          <a:ext cx="11174400" cy="5821200"/>
        </p:xfrm>
        <a:graphic>
          <a:graphicData uri="http://schemas.openxmlformats.org/drawingml/2006/table">
            <a:tbl>
              <a:tblPr/>
              <a:tblGrid>
                <a:gridCol w="1706040"/>
                <a:gridCol w="3672000"/>
                <a:gridCol w="2704680"/>
                <a:gridCol w="3092040"/>
              </a:tblGrid>
              <a:tr h="41328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lt1"/>
                          </a:solidFill>
                          <a:uFillTx/>
                          <a:latin typeface="Merriweather"/>
                          <a:ea typeface="Merriweather"/>
                        </a:rPr>
                        <a:t>Feature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9325a5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lt1"/>
                          </a:solidFill>
                          <a:uFillTx/>
                          <a:latin typeface="Merriweather"/>
                          <a:ea typeface="Merriweather"/>
                        </a:rPr>
                        <a:t>Client-Side Rendering (CSR)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9325a5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lt1"/>
                          </a:solidFill>
                          <a:uFillTx/>
                          <a:latin typeface="Merriweather"/>
                          <a:ea typeface="Merriweather"/>
                        </a:rPr>
                        <a:t>Server-Side Rendering (SSR)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9325a5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chemeClr val="lt1"/>
                          </a:solidFill>
                          <a:uFillTx/>
                          <a:latin typeface="Merriweather"/>
                          <a:ea typeface="Merriweather"/>
                        </a:rPr>
                        <a:t>Static Site Generation (SSG)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solidFill>
                      <a:srgbClr val="9325a5"/>
                    </a:solidFill>
                  </a:tcPr>
                </a:tc>
              </a:tr>
              <a:tr h="5284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Rendering Location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User's Browser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Web Server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Build Process (Pre-rendered)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9846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Process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1. User requests a page.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2. Server sends minimal HTML and JavaScript.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3. Browser downloads JavaScript and fetches data (optional).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4. JavaScript builds and displays the page content.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1. User requests a page.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2. Server fetches data and generates full HTML content. 3. Server sends complete HTML to the user's browser.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1. During development, content and templates are used to generate HTML for each page.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2. Pre-built HTML files are deployed to a server.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3. When a user requests a page, the server delivers the corresponding HTML file.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103284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Benefits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Faster subsequent navigation within the same application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Highly interactive and dynamic experiences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SEO friendly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Faster initial load for users with slow internet (pre-built HTML)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Very fast load times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Reduced server load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Excellent SEO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Drawbacks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Slower initial load (downloads and executes JavaScript first)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SEO challenges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. More server load (generating HTML for each request)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Potentially slower for users with fast internet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Less flexibility for dynamic content (requires rebuild and redeploy)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Ideal for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Single-page applications (SPAs)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Highly interactive and dynamic web experiences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Offline functionality (with proper caching)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Content-heavy websites with SEO emphasis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Complex applications with real-time data (e-commerce)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Faster initial load for users with limited bandwidth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Websites with mostly static content (blogs, portfolios) 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Priority on fast loading times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indent="-3049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Merriweather"/>
                        <a:buAutoNum type="arabicPeriod"/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 </a:t>
                      </a: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Merriweather"/>
                          <a:ea typeface="Merriweather"/>
                        </a:rPr>
                        <a:t>Minimal server load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1" name="Google Shape;331;g2dada4151bf_0_1372" descr=""/>
          <p:cNvPicPr/>
          <p:nvPr/>
        </p:nvPicPr>
        <p:blipFill>
          <a:blip r:embed="rId1"/>
          <a:stretch/>
        </p:blipFill>
        <p:spPr>
          <a:xfrm>
            <a:off x="9356400" y="6265440"/>
            <a:ext cx="2414160" cy="46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479680" y="1336320"/>
            <a:ext cx="7231320" cy="253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uFillTx/>
                <a:latin typeface="Space Grotesk"/>
                <a:ea typeface="Space Grotesk"/>
              </a:rPr>
              <a:t>Thank you!</a:t>
            </a: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3" name="Google Shape;337;p12" descr=""/>
          <p:cNvPicPr/>
          <p:nvPr/>
        </p:nvPicPr>
        <p:blipFill>
          <a:blip r:embed="rId2"/>
          <a:stretch/>
        </p:blipFill>
        <p:spPr>
          <a:xfrm>
            <a:off x="4126680" y="1047240"/>
            <a:ext cx="3937320" cy="7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Google Shape;338;p12"/>
          <p:cNvSpPr/>
          <p:nvPr/>
        </p:nvSpPr>
        <p:spPr>
          <a:xfrm>
            <a:off x="0" y="5621760"/>
            <a:ext cx="12190680" cy="1293840"/>
          </a:xfrm>
          <a:prstGeom prst="rect">
            <a:avLst/>
          </a:prstGeom>
          <a:solidFill>
            <a:srgbClr val="2c0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5" name="Google Shape;339;p12" descr=""/>
          <p:cNvPicPr/>
          <p:nvPr/>
        </p:nvPicPr>
        <p:blipFill>
          <a:blip r:embed="rId3"/>
          <a:stretch/>
        </p:blipFill>
        <p:spPr>
          <a:xfrm>
            <a:off x="3737160" y="4136040"/>
            <a:ext cx="5616000" cy="253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LibreOffice/24.8.4.2$Windows_X86_64 LibreOffice_project/bb3cfa12c7b1bf994ecc5649a80400d06cd71002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2023-02-28T15:47:28Z</dcterms:created>
  <dc:creator>Tonmoy Sarkar</dc:creator>
  <dc:description/>
  <dc:language>en-US</dc:language>
  <cp:lastModifiedBy/>
  <dcterms:modified xsi:type="dcterms:W3CDTF">2024-12-29T02:51:21Z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